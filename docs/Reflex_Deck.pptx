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is not a delivery ledger.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IN NAIROBI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5B708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2487168"/>
            <a:ext cx="10479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coordination — 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retailers (electronics on Luthuli Ave, CBD pharmacies, hardware shops) coordinate high-value customer deliveries across messy WhatsApp groups and unrecorded phone calls.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384048" cy="384048"/>
          </a:xfrm>
          <a:prstGeom prst="ellipse">
            <a:avLst/>
          </a:prstGeom>
          <a:solidFill>
            <a:srgbClr val="5B708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3264408"/>
            <a:ext cx="10479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delivery blindness — 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shopkeepers do not know which rider picked up an item, where the rider is, or if the customer actually received the goods.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384048" cy="384048"/>
          </a:xfrm>
          <a:prstGeom prst="ellipse">
            <a:avLst/>
          </a:prstGeom>
          <a:solidFill>
            <a:srgbClr val="5B708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4041648"/>
            <a:ext cx="10479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financial loss — 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disputes over lost merchandise, delayed drops, and unverified cash collections, absorbed straight from the shopkeeper's bottom line.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D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3492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23160" y="5513832"/>
            <a:ext cx="0" cy="539496"/>
          </a:xfrm>
          <a:prstGeom prst="line">
            <a:avLst/>
          </a:prstGeom>
          <a:noFill/>
          <a:ln w="12700">
            <a:solidFill>
              <a:srgbClr val="5B70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51760" y="5349240"/>
            <a:ext cx="8714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messaging creates operational chaos, zero parcel accountability, and direct financial loss for urban retailers.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— Delivery Coordination Platform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543032" y="6510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E3E6E9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connected personas, one synchronized source of truth.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REFLEX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3453384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88920"/>
            <a:ext cx="438912" cy="438912"/>
          </a:xfrm>
          <a:prstGeom prst="ellipse">
            <a:avLst/>
          </a:prstGeom>
          <a:solidFill>
            <a:srgbClr val="5B708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Retailer Staff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9476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delivery requests in 15 seconds — customer name, phone, drop-off location, item description, parcel value — and receives a live tracking ID and customer OTP PIN.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67784" y="2514600"/>
            <a:ext cx="3453384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2104" y="2788920"/>
            <a:ext cx="438912" cy="438912"/>
          </a:xfrm>
          <a:prstGeom prst="ellipse">
            <a:avLst/>
          </a:prstGeom>
          <a:solidFill>
            <a:srgbClr val="5B708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42104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42104" y="3383280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42104" y="379476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a centralized queue of unassigned orders and live fleet availability to assign the best rider in one click.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86928" y="2514600"/>
            <a:ext cx="3453384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61248" y="2788920"/>
            <a:ext cx="438912" cy="438912"/>
          </a:xfrm>
          <a:prstGeom prst="ellipse">
            <a:avLst/>
          </a:prstGeom>
          <a:solidFill>
            <a:srgbClr val="5B708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1248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61248" y="3383280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Rider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61248" y="379476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assigned routes on a mobile interface, confirms physical pickup, and verifies drop-off via customer OTP.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DF1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423160" y="5376672"/>
            <a:ext cx="0" cy="539496"/>
          </a:xfrm>
          <a:prstGeom prst="line">
            <a:avLst/>
          </a:prstGeom>
          <a:noFill/>
          <a:ln w="12700">
            <a:solidFill>
              <a:srgbClr val="5B70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5212080"/>
            <a:ext cx="8714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automates delivery handoffs between merchant, dispatcher, and rider through a strict, auditable 4-stage lifecycle: Pending Dispatch → Assigned → Picked Up → Delivered.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— Delivery Coordination Platform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543032" y="6510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E3E6E9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Engineered for low data use, speed, and East African network resilience.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BUILD: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1109167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over in-memory store, modular monolith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Four-state order machine: PENDING_DISPATCH → ASSIGNED → PICKED_UP → DELIVERED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transition is guarded — an order can't skip a step or be assigned twice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polls every 4 seconds so all three personas converge on the same state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closes only on a matching OTP, and every attempt (including failures) is appended to the audit trail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DF1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4406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23160" y="5605272"/>
            <a:ext cx="0" cy="539496"/>
          </a:xfrm>
          <a:prstGeom prst="line">
            <a:avLst/>
          </a:prstGeom>
          <a:noFill/>
          <a:ln w="12700">
            <a:solidFill>
              <a:srgbClr val="5B708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51760" y="5440680"/>
            <a:ext cx="8714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roles, one shared state, every transition guarded.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— Delivery Coordination Platform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43032" y="6510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E3E6E9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know where this breaks and what it'd take to fix.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REALITY: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04872"/>
            <a:ext cx="11091672" cy="27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guards are sequential, not atomic — simultaneous assignment could still race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is generated and verified but never sent — not yet independent proof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 — the OTP is readable through the order API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in memory — lost on restart</a:t>
            </a:r>
            <a:endParaRPr lang="en-US" sz="1300" dirty="0"/>
          </a:p>
          <a:p>
            <a:pPr marL="342900" indent="-342900">
              <a:lnSpc>
                <a:spcPct val="118000"/>
              </a:lnSpc>
              <a:spcAft>
                <a:spcPts val="1400"/>
              </a:spcAft>
              <a:buFont typeface="Calibri" pitchFamily="34" charset="0"/>
              <a:buChar char="•"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is append-only by convention, not enforced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DF1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3492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23160" y="5513832"/>
            <a:ext cx="0" cy="539496"/>
          </a:xfrm>
          <a:prstGeom prst="line">
            <a:avLst/>
          </a:prstGeom>
          <a:noFill/>
          <a:ln w="12700">
            <a:solidFill>
              <a:srgbClr val="5B708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51760" y="5349240"/>
            <a:ext cx="8714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compromise is documented and understood.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— Delivery Coordination Platform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543032" y="6510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E3E6E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from single-store visibility to East Africa's local commerce backbone.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3453384" cy="2606040"/>
          </a:xfrm>
          <a:prstGeom prst="roundRect">
            <a:avLst>
              <a:gd name="adj" fmla="val 2105"/>
            </a:avLst>
          </a:prstGeom>
          <a:solidFill>
            <a:srgbClr val="5B7083"/>
          </a:solidFill>
          <a:ln w="12700">
            <a:solidFill>
              <a:srgbClr val="5B708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514600"/>
            <a:ext cx="2904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COMPLETE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62072"/>
            <a:ext cx="2904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Build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904744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66160"/>
            <a:ext cx="2904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3-persona synchronization, guarded FSM state machine, OTP verification, and audit logging.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7784" y="2240280"/>
            <a:ext cx="3453384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42104" y="2514600"/>
            <a:ext cx="2904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Q4 2026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42104" y="2862072"/>
            <a:ext cx="2904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42104" y="3429000"/>
            <a:ext cx="2904744" cy="0"/>
          </a:xfrm>
          <a:prstGeom prst="line">
            <a:avLst/>
          </a:prstGeom>
          <a:noFill/>
          <a:ln w="9525">
            <a:solidFill>
              <a:srgbClr val="E3E6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2104" y="3566160"/>
            <a:ext cx="2904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Motorbike topological routing engine (OSRM), multi-tenant retailer accounts, and automated batch route clustering.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6928" y="2240280"/>
            <a:ext cx="3453384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1248" y="2514600"/>
            <a:ext cx="2904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Q2 2027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1248" y="2862072"/>
            <a:ext cx="2904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Fintech Integration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461248" y="3429000"/>
            <a:ext cx="2904744" cy="0"/>
          </a:xfrm>
          <a:prstGeom prst="line">
            <a:avLst/>
          </a:prstGeom>
          <a:noFill/>
          <a:ln w="9525">
            <a:solidFill>
              <a:srgbClr val="E3E6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61248" y="3566160"/>
            <a:ext cx="2904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5B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M-Pesa escrow release, triggered automatically upon successful customer OTP verification.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DF1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3492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23160" y="5513832"/>
            <a:ext cx="0" cy="539496"/>
          </a:xfrm>
          <a:prstGeom prst="line">
            <a:avLst/>
          </a:prstGeom>
          <a:noFill/>
          <a:ln w="12700">
            <a:solidFill>
              <a:srgbClr val="5B708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51760" y="5349240"/>
            <a:ext cx="8714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delivers immediate operational control today while establishing the infrastructure for automated route clustering and instant fintech escrow tomorrow.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— Delivery Coordination Platform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43032" y="65105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E3E6E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2026-09-04T17:37:51Z</dcterms:created>
  <dcterms:modified xsi:type="dcterms:W3CDTF">2026-09-04T17:37:51Z</dcterms:modified>
</cp:coreProperties>
</file>